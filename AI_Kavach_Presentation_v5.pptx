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5600" b="1">
                <a:solidFill>
                  <a:srgbClr val="00FF66"/>
                </a:solidFill>
                <a:latin typeface="Segoe UI"/>
              </a:defRPr>
            </a:pPr>
            <a:r>
              <a:t>AI KAVACH</a:t>
            </a:r>
          </a:p>
          <a:p>
            <a:pPr>
              <a:spcAft>
                <a:spcPts val="1600"/>
              </a:spcAft>
              <a:defRPr sz="2400" b="1">
                <a:solidFill>
                  <a:srgbClr val="F8FAFC"/>
                </a:solidFill>
                <a:latin typeface="Segoe UI"/>
              </a:defRPr>
            </a:pPr>
            <a:r>
              <a:t>Autonomous Cyber-Reasoning Workbench</a:t>
            </a:r>
          </a:p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Data-centric security autopilot that detects, triages, patches, and validates vulnerabilities.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0FF66"/>
                </a:solidFill>
                <a:latin typeface="Segoe UI"/>
              </a:defRPr>
            </a:pPr>
            <a:r>
              <a:t>TEAM ASTRA KAVACH  |  DEVELOPED BY:</a:t>
            </a:r>
          </a:p>
          <a:p>
            <a:pPr>
              <a:defRPr sz="1600" b="1">
                <a:solidFill>
                  <a:srgbClr val="F8FAFC"/>
                </a:solidFill>
                <a:latin typeface="Segoe UI"/>
              </a:defRPr>
            </a:pPr>
            <a:r>
              <a:t>Dhyan Parmar  •  Vishad Shah  •  Brijesh Patel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National Security &amp; Defense Hackathon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FF66"/>
                </a:solidFill>
                <a:latin typeface="Segoe UI"/>
              </a:defRPr>
            </a:pPr>
            <a:r>
              <a:t>AI KAVACH // SECURITY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Detailed Methodology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0FF66"/>
                </a:solidFill>
                <a:latin typeface="Segoe UI"/>
              </a:defRPr>
            </a:pPr>
            <a:r>
              <a:t>1. Intake &amp; AST Profiling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Ingests codebase source and parses into syntactic control-flow trees.</a:t>
            </a:r>
          </a:p>
          <a:p>
            <a:pPr>
              <a:defRPr sz="1200" b="1">
                <a:solidFill>
                  <a:srgbClr val="00FF66"/>
                </a:solidFill>
                <a:latin typeface="Segoe UI"/>
              </a:defRPr>
            </a:pPr>
            <a:r>
              <a:t>2. Vulnerability Hunting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Parallel scan using SAST rules, DAST endpoints, and randomized seed fuzzers.</a:t>
            </a:r>
          </a:p>
          <a:p>
            <a:pPr>
              <a:defRPr sz="1200" b="1">
                <a:solidFill>
                  <a:srgbClr val="00FF66"/>
                </a:solidFill>
                <a:latin typeface="Segoe UI"/>
              </a:defRPr>
            </a:pPr>
            <a:r>
              <a:t>3. Standalone Exploit Proof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Constructs a Python reproduction script to trigger the crash and eliminate false alarms.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3035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0FF66"/>
                </a:solidFill>
                <a:latin typeface="Segoe UI"/>
              </a:defRPr>
            </a:pPr>
            <a:r>
              <a:t>4. Surgical Remediation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Feeds code + exploit error context to the LLM to generate secure code patches.</a:t>
            </a:r>
          </a:p>
          <a:p>
            <a:pPr>
              <a:defRPr sz="1200" b="1">
                <a:solidFill>
                  <a:srgbClr val="00FF66"/>
                </a:solidFill>
                <a:latin typeface="Segoe UI"/>
              </a:defRPr>
            </a:pPr>
            <a:r>
              <a:t>5. Safety Gates &amp; Attestation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Validates patches against 8-stage gates (regression, re-exploit check) and hashes output assets.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4389120"/>
            <a:ext cx="1005840" cy="731520"/>
          </a:xfrm>
          <a:prstGeom prst="ellipse">
            <a:avLst/>
          </a:prstGeom>
          <a:solidFill>
            <a:srgbClr val="0B100D"/>
          </a:solidFill>
          <a:ln w="1905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900" b="1">
                <a:solidFill>
                  <a:srgbClr val="F8FAFC"/>
                </a:solidFill>
                <a:latin typeface="Segoe UI"/>
              </a:defRPr>
            </a:pPr>
            <a:r>
              <a:t>START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600200" y="4663440"/>
            <a:ext cx="164592" cy="18288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10512" y="4389120"/>
            <a:ext cx="1463040" cy="731520"/>
          </a:xfrm>
          <a:prstGeom prst="roundRect">
            <a:avLst/>
          </a:prstGeom>
          <a:solidFill>
            <a:srgbClr val="0B100D"/>
          </a:solidFill>
          <a:ln w="1905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900" b="1">
                <a:solidFill>
                  <a:srgbClr val="F8FAFC"/>
                </a:solidFill>
                <a:latin typeface="Segoe UI"/>
              </a:defRPr>
            </a:pPr>
            <a:r>
              <a:t>Code Intake</a:t>
            </a:r>
            <a:br/>
            <a:r>
              <a:t>&amp; Multi-Scan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319272" y="4663440"/>
            <a:ext cx="164592" cy="18288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amond 9"/>
          <p:cNvSpPr/>
          <p:nvPr/>
        </p:nvSpPr>
        <p:spPr>
          <a:xfrm>
            <a:off x="3529584" y="4206240"/>
            <a:ext cx="1097280" cy="1097280"/>
          </a:xfrm>
          <a:prstGeom prst="diamond">
            <a:avLst/>
          </a:prstGeom>
          <a:solidFill>
            <a:srgbClr val="0B100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900" b="1">
                <a:solidFill>
                  <a:srgbClr val="F8FAFC"/>
                </a:solidFill>
                <a:latin typeface="Segoe UI"/>
              </a:defRPr>
            </a:pPr>
            <a:r>
              <a:t>Crash</a:t>
            </a:r>
            <a:br/>
            <a:r>
              <a:t>Found?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672584" y="4663440"/>
            <a:ext cx="182880" cy="18288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1184" y="4389120"/>
            <a:ext cx="1463040" cy="731520"/>
          </a:xfrm>
          <a:prstGeom prst="roundRect">
            <a:avLst/>
          </a:prstGeom>
          <a:solidFill>
            <a:srgbClr val="0B100D"/>
          </a:solidFill>
          <a:ln w="1905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900" b="1">
                <a:solidFill>
                  <a:srgbClr val="F8FAFC"/>
                </a:solidFill>
                <a:latin typeface="Segoe UI"/>
              </a:defRPr>
            </a:pPr>
            <a:r>
              <a:t>Generate PoV</a:t>
            </a:r>
            <a:br/>
            <a:r>
              <a:t>Exploit Script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409944" y="4663440"/>
            <a:ext cx="164592" cy="18288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20256" y="4389120"/>
            <a:ext cx="1463040" cy="731520"/>
          </a:xfrm>
          <a:prstGeom prst="roundRect">
            <a:avLst/>
          </a:prstGeom>
          <a:solidFill>
            <a:srgbClr val="0B100D"/>
          </a:solidFill>
          <a:ln w="1905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900" b="1">
                <a:solidFill>
                  <a:srgbClr val="F8FAFC"/>
                </a:solidFill>
                <a:latin typeface="Segoe UI"/>
              </a:defRPr>
            </a:pPr>
            <a:r>
              <a:t>AI Patch &amp; Code</a:t>
            </a:r>
            <a:br/>
            <a:r>
              <a:t>Remediation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129016" y="4663440"/>
            <a:ext cx="164592" cy="18288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iamond 15"/>
          <p:cNvSpPr/>
          <p:nvPr/>
        </p:nvSpPr>
        <p:spPr>
          <a:xfrm>
            <a:off x="8339328" y="4206240"/>
            <a:ext cx="1097280" cy="1097280"/>
          </a:xfrm>
          <a:prstGeom prst="diamond">
            <a:avLst/>
          </a:prstGeom>
          <a:solidFill>
            <a:srgbClr val="0B100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900" b="1">
                <a:solidFill>
                  <a:srgbClr val="F8FAFC"/>
                </a:solidFill>
                <a:latin typeface="Segoe UI"/>
              </a:defRPr>
            </a:pPr>
            <a:r>
              <a:t>Gates</a:t>
            </a:r>
            <a:br/>
            <a:r>
              <a:t>Passed?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482328" y="4663440"/>
            <a:ext cx="164592" cy="18288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92640" y="4389120"/>
            <a:ext cx="1005840" cy="731520"/>
          </a:xfrm>
          <a:prstGeom prst="ellipse">
            <a:avLst/>
          </a:prstGeom>
          <a:solidFill>
            <a:srgbClr val="0B100D"/>
          </a:solidFill>
          <a:ln w="1905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900" b="1">
                <a:solidFill>
                  <a:srgbClr val="F8FAFC"/>
                </a:solidFill>
                <a:latin typeface="Segoe UI"/>
              </a:defRPr>
            </a:pPr>
            <a:r>
              <a:t>ATTEST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3986784" y="5340096"/>
            <a:ext cx="182880" cy="18288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346704" y="5568696"/>
            <a:ext cx="1463040" cy="457200"/>
          </a:xfrm>
          <a:prstGeom prst="roundRect">
            <a:avLst/>
          </a:prstGeom>
          <a:solidFill>
            <a:srgbClr val="0B100D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850" b="1">
                <a:solidFill>
                  <a:srgbClr val="F8FAFC"/>
                </a:solidFill>
                <a:latin typeface="Segoe UI"/>
              </a:defRPr>
            </a:pPr>
            <a:r>
              <a:t>System Verified Safe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FF66"/>
                </a:solidFill>
                <a:latin typeface="Segoe UI"/>
              </a:defRPr>
            </a:pPr>
            <a:r>
              <a:t>AI KAVACH // SECURITY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System Architecture &amp;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0FF66"/>
                </a:solidFill>
                <a:latin typeface="Segoe UI"/>
              </a:defRPr>
            </a:pPr>
            <a:r>
              <a:t>TECHNOLOGY STACK</a:t>
            </a:r>
          </a:p>
          <a:p>
            <a:pPr>
              <a:spcAft>
                <a:spcPts val="4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Tactical Frontend UI: React 18, React Router v6, Tailwind CSS, Lucide Icons</a:t>
            </a:r>
          </a:p>
          <a:p>
            <a:pPr>
              <a:spcAft>
                <a:spcPts val="4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Serverless Web Server: Hono (micro-framework running on edge nodes)</a:t>
            </a:r>
          </a:p>
          <a:p>
            <a:pPr>
              <a:spcAft>
                <a:spcPts val="4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Wrangler Local Runtime: Cloudflare Wrangler CLI + nodejs_compat_v2 configurations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0292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0FF66"/>
                </a:solidFill>
                <a:latin typeface="Segoe UI"/>
              </a:defRPr>
            </a:pPr>
            <a:r>
              <a:t>CORE COMPILER &amp; VERIFIER ENGINES</a:t>
            </a:r>
          </a:p>
          <a:p>
            <a:pPr>
              <a:spcAft>
                <a:spcPts val="4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Security Diagnostics &amp; Scans: Static code analyzers, custom mutator fuzzing loops</a:t>
            </a:r>
          </a:p>
          <a:p>
            <a:pPr>
              <a:spcAft>
                <a:spcPts val="4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Verification &amp; Compiler Harness: GCC / Python compiler tools + Pytest integration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0" y="3840480"/>
            <a:ext cx="4114800" cy="640080"/>
          </a:xfrm>
          <a:prstGeom prst="roundRect">
            <a:avLst/>
          </a:prstGeom>
          <a:solidFill>
            <a:srgbClr val="0B100D"/>
          </a:solidFill>
          <a:ln w="1905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PRESENTATION: React Command Dashboard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71032" y="4517136"/>
            <a:ext cx="219456" cy="146304"/>
          </a:xfrm>
          <a:prstGeom prst="down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023360" y="4663440"/>
            <a:ext cx="4114800" cy="640080"/>
          </a:xfrm>
          <a:prstGeom prst="roundRect">
            <a:avLst/>
          </a:prstGeom>
          <a:solidFill>
            <a:srgbClr val="0B100D"/>
          </a:solidFill>
          <a:ln w="1905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CONTROL PLANE: Hono Web Server API</a:t>
            </a:r>
          </a:p>
        </p:txBody>
      </p:sp>
      <p:sp>
        <p:nvSpPr>
          <p:cNvPr id="9" name="Down Arrow 8"/>
          <p:cNvSpPr/>
          <p:nvPr/>
        </p:nvSpPr>
        <p:spPr>
          <a:xfrm>
            <a:off x="5971032" y="5340096"/>
            <a:ext cx="219456" cy="146304"/>
          </a:xfrm>
          <a:prstGeom prst="down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023360" y="5486400"/>
            <a:ext cx="4114800" cy="640080"/>
          </a:xfrm>
          <a:prstGeom prst="roundRect">
            <a:avLst/>
          </a:prstGeom>
          <a:solidFill>
            <a:srgbClr val="0B100D"/>
          </a:solidFill>
          <a:ln w="1905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EXECUTION ENGINE: CRS Sandbox 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29260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59E0B"/>
                </a:solidFill>
                <a:latin typeface="Segoe UI"/>
              </a:defRPr>
            </a:pPr>
            <a:r>
              <a:t>CLIENT LAYER FUNCTIONS</a:t>
            </a:r>
          </a:p>
          <a:p>
            <a:pPr>
              <a:lnSpc>
                <a:spcPct val="130000"/>
              </a:lnSpc>
              <a:defRPr sz="950">
                <a:solidFill>
                  <a:srgbClr val="94A3B8"/>
                </a:solidFill>
                <a:latin typeface="Segoe UI"/>
              </a:defRPr>
            </a:pPr>
            <a:r>
              <a:t>• Dynamic scan progression bars</a:t>
            </a:r>
            <a:br/>
            <a:r>
              <a:t>• Multi-engine telemetry stats</a:t>
            </a:r>
            <a:br/>
            <a:r>
              <a:t>• Interactive ASAN parser utility</a:t>
            </a:r>
            <a:br/>
            <a:r>
              <a:t>• Before/after diff output visualizer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3840480"/>
            <a:ext cx="29260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59E0B"/>
                </a:solidFill>
                <a:latin typeface="Segoe UI"/>
              </a:defRPr>
            </a:pPr>
            <a:r>
              <a:t>CORE CRS CAPABILITIES</a:t>
            </a:r>
          </a:p>
          <a:p>
            <a:pPr>
              <a:lnSpc>
                <a:spcPct val="130000"/>
              </a:lnSpc>
              <a:defRPr sz="950">
                <a:solidFill>
                  <a:srgbClr val="94A3B8"/>
                </a:solidFill>
                <a:latin typeface="Segoe UI"/>
              </a:defRPr>
            </a:pPr>
            <a:r>
              <a:t>• Parallel SAST/DAST pattern scans</a:t>
            </a:r>
            <a:br/>
            <a:r>
              <a:t>• Multi-variant mutation fuzzing</a:t>
            </a:r>
            <a:br/>
            <a:r>
              <a:t>• Python PoV exploit reproductions</a:t>
            </a:r>
            <a:br/>
            <a:r>
              <a:t>• Strict 8-gate verification testing</a:t>
            </a:r>
            <a:br/>
            <a:r>
              <a:t>• SHA-256 evidence integrity hashing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FF66"/>
                </a:solidFill>
                <a:latin typeface="Segoe UI"/>
              </a:defRPr>
            </a:pPr>
            <a:r>
              <a:t>AI KAVACH // SECURITY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Salient Features &amp; Uniqueness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00FF66"/>
                </a:solidFill>
                <a:latin typeface="Segoe UI"/>
              </a:defRPr>
            </a:pPr>
            <a:r>
              <a:t>KEY NOVEL FEATURES</a:t>
            </a: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 Self-Correcting Loop:</a:t>
            </a:r>
          </a:p>
          <a:p>
            <a:pPr>
              <a:spcAft>
                <a:spcPts val="10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    Compiler/run errors are automatically fed back to patch generator for up to 3 repair cycles.</a:t>
            </a: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 Defensive ASAN parser:</a:t>
            </a:r>
          </a:p>
          <a:p>
            <a:pPr>
              <a:spcAft>
                <a:spcPts val="10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    Parses raw memory crash logs with regex string mapping, preventing execution risks.</a:t>
            </a: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 Two-Brain Validation:</a:t>
            </a:r>
          </a:p>
          <a:p>
            <a:pPr>
              <a:spcAft>
                <a:spcPts val="10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    Uses independent planner (reasoner) and sandbox test harness (verifier) to ensure patch safety.</a:t>
            </a: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 Air-Gapped Ready:</a:t>
            </a:r>
          </a:p>
          <a:p>
            <a:pPr>
              <a:spcAft>
                <a:spcPts val="10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    Operates completely locally in air-gapped target environments without external network dependencies.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0292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UNIQUE SELLING PROPOSITION (USP)</a:t>
            </a:r>
          </a:p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Evidence-Based Autonomous Software Attestation:</a:t>
            </a:r>
          </a:p>
          <a:p>
            <a:pPr>
              <a:lnSpc>
                <a:spcPct val="135000"/>
              </a:lnSpc>
              <a:defRPr sz="1150">
                <a:solidFill>
                  <a:srgbClr val="94A3B8"/>
                </a:solidFill>
                <a:latin typeface="Segoe UI"/>
              </a:defRPr>
            </a:pPr>
            <a:r>
              <a:t>Traditional scanners only detect bugs, resulting in false alerts. Standard AI patchers propose fixes that might break production stability. </a:t>
            </a:r>
            <a:br/>
            <a:br/>
            <a:r>
              <a:t>AI Kavach is the only workbench that autonomously writes proof-of-concept exploit scripts to prove vulnerabilities, automatically corrects the patch inside the sandbox, and generates a tamper-proof SHA-256 compliance manifest proving the patch works without regressing system functions.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FF66"/>
                </a:solidFill>
                <a:latin typeface="Segoe UI"/>
              </a:defRPr>
            </a:pPr>
            <a:r>
              <a:t>AI KAVACH // SECURITY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Final Deliverables &amp; Proof of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00FF66"/>
                </a:solidFill>
                <a:latin typeface="Segoe UI"/>
              </a:defRPr>
            </a:pPr>
            <a:r>
              <a:t>PROJECT DELIVERABLES</a:t>
            </a: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 Tactical Control Dashboard:</a:t>
            </a:r>
          </a:p>
          <a:p>
            <a:pPr>
              <a:spcAft>
                <a:spcPts val="10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    Complete React interface monitoring real-time diagnostic scanning telemetry.</a:t>
            </a: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 Defensive ASAN Triage Utility:</a:t>
            </a:r>
          </a:p>
          <a:p>
            <a:pPr>
              <a:spcAft>
                <a:spcPts val="10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    Secure parser mapping memory sanitizer reports to user-code fault locations.</a:t>
            </a: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 Compliance Attestation Bundle:</a:t>
            </a:r>
          </a:p>
          <a:p>
            <a:pPr>
              <a:spcAft>
                <a:spcPts val="10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    SHA-256 integrity manifest logs and JSON verification packet downloader.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0292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EXPECTED OUTCOMES</a:t>
            </a: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Zero False Positives</a:t>
            </a:r>
          </a:p>
          <a:p>
            <a:pPr>
              <a:spcAft>
                <a:spcPts val="10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Reproduction scripts prove vulnerability viability before patch cycles.</a:t>
            </a: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Minutes to Fix</a:t>
            </a:r>
          </a:p>
          <a:p>
            <a:pPr>
              <a:spcAft>
                <a:spcPts val="10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Accelerates the remediation lifecycle loop down to under 60 seconds.</a:t>
            </a: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Verified Secure Patching</a:t>
            </a:r>
          </a:p>
          <a:p>
            <a:pPr>
              <a:spcAft>
                <a:spcPts val="10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Guarantees bug block validation and functionality checks inside safety gates.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